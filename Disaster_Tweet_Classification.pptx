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9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EF-466D-B7C7-77C9796D59E9}"/>
              </c:ext>
            </c:extLst>
          </c:dPt>
          <c:dPt>
            <c:idx val="1"/>
            <c:bubble3D val="0"/>
            <c:spPr>
              <a:solidFill>
                <a:srgbClr val="E850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EF-466D-B7C7-77C9796D59E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EF-466D-B7C7-77C9796D59E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EF-466D-B7C7-77C9796D59E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Non-Disaster (57%)</c:v>
                </c:pt>
                <c:pt idx="1">
                  <c:v>Disaster (43%)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4342</c:v>
                </c:pt>
                <c:pt idx="1">
                  <c:v>3271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EF-466D-B7C7-77C9796D59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222B3A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222B3A"/>
                </a:solidFill>
                <a:latin typeface="Arial"/>
              </a:rPr>
              <a:t>Top Disaster Keywords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Disaster</c:v>
                </c:pt>
              </c:strCache>
            </c:strRef>
          </c:tx>
          <c:spPr>
            <a:solidFill>
              <a:srgbClr val="E850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fatalities</c:v>
                </c:pt>
                <c:pt idx="1">
                  <c:v>damage</c:v>
                </c:pt>
                <c:pt idx="2">
                  <c:v>outbreak</c:v>
                </c:pt>
                <c:pt idx="3">
                  <c:v>wreckage</c:v>
                </c:pt>
                <c:pt idx="4">
                  <c:v>derailment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41</c:v>
                </c:pt>
                <c:pt idx="2">
                  <c:v>39</c:v>
                </c:pt>
                <c:pt idx="3">
                  <c:v>39</c:v>
                </c:pt>
                <c:pt idx="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3C-4624-93A8-AF15310DBC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7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 Score</c:v>
                </c:pt>
              </c:strCache>
            </c:strRef>
          </c:tx>
          <c:spPr>
            <a:solidFill>
              <a:srgbClr val="1F335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62-4966-A858-E9FC7BF4DAD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F62-4966-A858-E9FC7BF4DAD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F62-4966-A858-E9FC7BF4DAD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F62-4966-A858-E9FC7BF4DAD0}"/>
              </c:ext>
            </c:extLst>
          </c:dPt>
          <c:dPt>
            <c:idx val="4"/>
            <c:invertIfNegative val="0"/>
            <c:bubble3D val="0"/>
            <c:spPr>
              <a:solidFill>
                <a:srgbClr val="E850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F62-4966-A858-E9FC7BF4DAD0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2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 Forest</c:v>
                </c:pt>
                <c:pt idx="1">
                  <c:v>Linear SVM</c:v>
                </c:pt>
                <c:pt idx="2">
                  <c:v>XGBoost</c:v>
                </c:pt>
                <c:pt idx="3">
                  <c:v>Naive Bayes</c:v>
                </c:pt>
                <c:pt idx="4">
                  <c:v>Logistic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0.68400000000000005</c:v>
                </c:pt>
                <c:pt idx="1">
                  <c:v>0.70940000000000003</c:v>
                </c:pt>
                <c:pt idx="2">
                  <c:v>0.72440000000000004</c:v>
                </c:pt>
                <c:pt idx="3">
                  <c:v>0.7167</c:v>
                </c:pt>
                <c:pt idx="4">
                  <c:v>0.73370000000000002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F62-4966-A858-E9FC7BF4DA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2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8"/>
          <c:min val="0.6"/>
        </c:scaling>
        <c:delete val="0"/>
        <c:axPos val="b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30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1BD5-0124-2971-0850-5B719E49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770D8-F3E2-990A-9D60-1446236A5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22858-79A5-78E8-9987-27C7186A2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2162E-ACE6-6421-31E5-62B177051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7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062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75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083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58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4746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3881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935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380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3122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4466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8803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77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07-Jul-26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738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8971" y="33590"/>
            <a:ext cx="4046065" cy="4401249"/>
          </a:xfrm>
          <a:prstGeom prst="ellipse">
            <a:avLst/>
          </a:prstGeom>
          <a:solidFill>
            <a:srgbClr val="1F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87436" y="1918373"/>
            <a:ext cx="3657600" cy="4650375"/>
          </a:xfrm>
          <a:prstGeom prst="ellipse">
            <a:avLst/>
          </a:prstGeom>
          <a:solidFill>
            <a:srgbClr val="E8503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822960" cy="82296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15243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· MACHINE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Tweet Classification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real emergencies from noise on social media, using TF-IDF, sentiment features, and classical ML models.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4206240" cy="0"/>
          </a:xfrm>
          <a:prstGeom prst="line">
            <a:avLst/>
          </a:prstGeom>
          <a:noFill/>
          <a:ln w="12700">
            <a:solidFill>
              <a:srgbClr val="3A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4981614"/>
            <a:ext cx="9189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2400" b="1" dirty="0">
                <a:solidFill>
                  <a:schemeClr val="bg1"/>
                </a:solidFill>
              </a:rPr>
              <a:t>By Khairun Nisa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Batch: </a:t>
            </a:r>
            <a:r>
              <a:rPr lang="en-US" sz="2400" b="1" dirty="0" err="1">
                <a:solidFill>
                  <a:schemeClr val="bg1"/>
                </a:solidFill>
              </a:rPr>
              <a:t>Nexthikes</a:t>
            </a:r>
            <a:r>
              <a:rPr lang="en-US" sz="2400" b="1" dirty="0">
                <a:solidFill>
                  <a:schemeClr val="bg1"/>
                </a:solidFill>
              </a:rPr>
              <a:t> | Internship Project Training | I-120625-TH2PM-B12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Disaster Tweet Detection Matters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has become a real-time channel for emergency information. But telling a genuine disaster report apart from a metaphorical or unrelated tweet is hard — even for people.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“Forest fire near La Ronge Sask. Canada”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74920" y="277063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74920" y="2770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DISASTER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356616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song is fire, I'm obsessed”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74920" y="382219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74920" y="3822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DISASTER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4709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real demand from disaster-relief agencies and newsrooms for automated systems that monitor social media and flag genuine emergencies in real time.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0" y="1417320"/>
            <a:ext cx="4343400" cy="4709160"/>
          </a:xfrm>
          <a:prstGeom prst="roundRect">
            <a:avLst>
              <a:gd name="adj" fmla="val 2526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352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2148840"/>
            <a:ext cx="128016" cy="128016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90956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0956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tweet describes a real disaster.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35240" y="3081528"/>
            <a:ext cx="128016" cy="128016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09560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precision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909560" y="32186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catching true emergencies.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35240" y="4014216"/>
            <a:ext cx="128016" cy="128016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90956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909560" y="41513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metaphor, and varied language.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635240" y="4946904"/>
            <a:ext cx="128016" cy="128016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90956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909560" y="50840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continuous, real-time tweet monitoring.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Workflow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764792"/>
            <a:ext cx="566928" cy="5669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01" y="1838493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044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371600" y="1764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0848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7,613 tweets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87952" y="15087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370832" y="1764792"/>
            <a:ext cx="566928" cy="5669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533" y="1838493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05472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56632" y="1764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(EDA)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056632" y="20848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keyword analysis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872984" y="15087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055864" y="1764792"/>
            <a:ext cx="566928" cy="5669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565" y="1838493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90504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741664" y="1764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741664" y="20848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lemmatize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85800" y="3364992"/>
            <a:ext cx="566928" cy="56692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01" y="343869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37160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371600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sentiment + meta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187952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370832" y="3364992"/>
            <a:ext cx="566928" cy="56692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4533" y="3438693"/>
            <a:ext cx="419527" cy="41952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05472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56632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5056632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872984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8055864" y="3364992"/>
            <a:ext cx="566928" cy="56692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9565" y="3438693"/>
            <a:ext cx="419527" cy="419527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890504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8741664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450" dirty="0"/>
          </a:p>
        </p:txBody>
      </p:sp>
      <p:sp>
        <p:nvSpPr>
          <p:cNvPr id="41" name="Text 32"/>
          <p:cNvSpPr/>
          <p:nvPr/>
        </p:nvSpPr>
        <p:spPr>
          <a:xfrm>
            <a:off x="8741664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algorithms, 5-fold CV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502920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85800" y="4965192"/>
            <a:ext cx="566928" cy="566928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501" y="5038893"/>
            <a:ext cx="419527" cy="419527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5204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1371600" y="4965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450" dirty="0"/>
          </a:p>
        </p:txBody>
      </p:sp>
      <p:sp>
        <p:nvSpPr>
          <p:cNvPr id="47" name="Text 37"/>
          <p:cNvSpPr/>
          <p:nvPr/>
        </p:nvSpPr>
        <p:spPr>
          <a:xfrm>
            <a:off x="1371600" y="5285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4187952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9"/>
          <p:cNvSpPr/>
          <p:nvPr/>
        </p:nvSpPr>
        <p:spPr>
          <a:xfrm>
            <a:off x="4370832" y="4965192"/>
            <a:ext cx="566928" cy="566928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4533" y="5038893"/>
            <a:ext cx="419527" cy="419527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205472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5056632" y="4965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50" dirty="0"/>
          </a:p>
        </p:txBody>
      </p:sp>
      <p:sp>
        <p:nvSpPr>
          <p:cNvPr id="53" name="Text 42"/>
          <p:cNvSpPr/>
          <p:nvPr/>
        </p:nvSpPr>
        <p:spPr>
          <a:xfrm>
            <a:off x="5056632" y="5285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ROC, PR, confusion matrix</a:t>
            </a:r>
            <a:endParaRPr lang="en-US" sz="1100" dirty="0"/>
          </a:p>
        </p:txBody>
      </p:sp>
      <p:sp>
        <p:nvSpPr>
          <p:cNvPr id="54" name="Shape 43"/>
          <p:cNvSpPr/>
          <p:nvPr/>
        </p:nvSpPr>
        <p:spPr>
          <a:xfrm>
            <a:off x="7872984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4"/>
          <p:cNvSpPr/>
          <p:nvPr/>
        </p:nvSpPr>
        <p:spPr>
          <a:xfrm>
            <a:off x="8055864" y="4965192"/>
            <a:ext cx="566928" cy="566928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9565" y="5038893"/>
            <a:ext cx="419527" cy="419527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0890504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8" name="Text 46"/>
          <p:cNvSpPr/>
          <p:nvPr/>
        </p:nvSpPr>
        <p:spPr>
          <a:xfrm>
            <a:off x="8741664" y="4965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50" dirty="0"/>
          </a:p>
        </p:txBody>
      </p:sp>
      <p:sp>
        <p:nvSpPr>
          <p:cNvPr id="59" name="Text 47"/>
          <p:cNvSpPr/>
          <p:nvPr/>
        </p:nvSpPr>
        <p:spPr>
          <a:xfrm>
            <a:off x="8741664" y="5285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</a:t>
            </a:r>
            <a:endParaRPr lang="en-US" sz="1100" dirty="0"/>
          </a:p>
        </p:txBody>
      </p:sp>
      <p:sp>
        <p:nvSpPr>
          <p:cNvPr id="60" name="Text 4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1" name="Text 49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· DATA EXPLORATION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7,613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46120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24612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9320" y="1463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8932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class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32520" y="1463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732520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73252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location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91840"/>
          <a:ext cx="5852160" cy="2651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tweet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Disaster-related keyword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User-supplied location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tweet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(1 = disaster, 0 = not)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7208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720840" y="3291840"/>
          <a:ext cx="4937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· DATA EXPLORATION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Length &amp; Word Count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character count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chars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word count (cleaned)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1480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words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with a hashtag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1480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with a mention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with a URL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11480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4480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handcrafted signals (hashtags, mentions, URLs, length) later become part of the 10 meta-features fed into the model alongside TF-IDF.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0" y="1417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Keywords by Class</a:t>
            </a:r>
            <a:endParaRPr lang="en-US" sz="13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400800" y="1737360"/>
          <a:ext cx="52120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6400800" y="40233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 (Notebook 1) reinforce this: disaster tweets cluster around terms like fire, flood, storm and killed, while non-disaster tweets skew toward everyday, conversational language.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· DATA PREPARATION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Cleaning Pipeline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1709928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323" y="178125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2648" y="288036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casing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331720" y="2468880"/>
            <a:ext cx="123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455164" y="15087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F335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95244" y="1709928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567" y="1781251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46604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564892" y="288036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http/www links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283964" y="2468880"/>
            <a:ext cx="123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407408" y="15087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047488" y="1709928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811" y="1781251"/>
            <a:ext cx="405994" cy="4059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98848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mentions &amp; #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17136" y="288036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@user, keep hashtag word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236208" y="2468880"/>
            <a:ext cx="123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359652" y="15087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F335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999732" y="1709928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55" y="1781251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51092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69380" y="288036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a-z and spaces only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188452" y="2468880"/>
            <a:ext cx="123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311896" y="15087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951976" y="1709928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3299" y="1781251"/>
            <a:ext cx="405994" cy="40599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03336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421624" y="288036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word tokens (NLTK)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140696" y="2468880"/>
            <a:ext cx="123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10264140" y="15087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F335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0904220" y="1709928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5543" y="1781251"/>
            <a:ext cx="405994" cy="40599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3555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+ lemmatize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0373868" y="288036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stopwords, reduce to root form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502920" y="4114800"/>
            <a:ext cx="1120140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77724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777240" y="4572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 </a:t>
            </a:r>
            <a:r>
              <a:rPr lang="en-US" sz="1250" i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Deeds are the Reason of this #earthquake May ALLAH Forgive us all”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Cleaned:  </a:t>
            </a:r>
            <a:r>
              <a:rPr lang="en-US" sz="1250" b="1" i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“deed reason earthquake may allah forgive”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filters tokens shorter than 3 characters to reduce noise.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· FEATURE ENGINEERING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Feature Space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180868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2834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10,000 features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Uni-grams + bi-grams (1,2)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 = 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sublinear_tf = True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which words and phrases distinguish disaster language from everyday chatter.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77240" y="5166360"/>
            <a:ext cx="3108960" cy="0"/>
          </a:xfrm>
          <a:prstGeom prst="line">
            <a:avLst/>
          </a:prstGeom>
          <a:noFill/>
          <a:ln w="12700">
            <a:solidFill>
              <a:srgbClr val="3A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7240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7724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 extracted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348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Hand-Crafted Meta-Features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434840" y="18288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26280" y="1984248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206" y="2034174"/>
            <a:ext cx="284196" cy="2841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65192" y="192024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hashtag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36208" y="18288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327648" y="1984248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574" y="2034174"/>
            <a:ext cx="284196" cy="2841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192024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mention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34840" y="28072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26280" y="2962656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6206" y="3012582"/>
            <a:ext cx="284196" cy="2841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65192" y="2898648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URL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236208" y="280720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327648" y="2962656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574" y="3012582"/>
            <a:ext cx="284196" cy="2841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2898648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count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434840" y="3785616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4526280" y="3941064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6206" y="3990990"/>
            <a:ext cx="284196" cy="2841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65192" y="3877056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236208" y="3785616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327648" y="3941064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7574" y="3990990"/>
            <a:ext cx="284196" cy="28419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66560" y="3877056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Exclamation count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434840" y="4764024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>
            <a:off x="4526280" y="4919472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6206" y="4969398"/>
            <a:ext cx="284196" cy="28419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65192" y="4855464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count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6236208" y="4764024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4"/>
          <p:cNvSpPr/>
          <p:nvPr/>
        </p:nvSpPr>
        <p:spPr>
          <a:xfrm>
            <a:off x="6327648" y="4919472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7574" y="4969398"/>
            <a:ext cx="284196" cy="28419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766560" y="4855464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ratio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4434840" y="5742432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7"/>
          <p:cNvSpPr/>
          <p:nvPr/>
        </p:nvSpPr>
        <p:spPr>
          <a:xfrm>
            <a:off x="4526280" y="5897880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6206" y="5947806"/>
            <a:ext cx="284196" cy="28419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965192" y="5833872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polarity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6236208" y="5742432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0"/>
          <p:cNvSpPr/>
          <p:nvPr/>
        </p:nvSpPr>
        <p:spPr>
          <a:xfrm>
            <a:off x="6327648" y="5897880"/>
            <a:ext cx="384048" cy="38404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7574" y="5947806"/>
            <a:ext cx="284196" cy="284196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766560" y="5833872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subjectivity</a:t>
            </a:r>
            <a:endParaRPr lang="en-US" sz="1000" dirty="0"/>
          </a:p>
        </p:txBody>
      </p:sp>
      <p:sp>
        <p:nvSpPr>
          <p:cNvPr id="56" name="Shape 42"/>
          <p:cNvSpPr/>
          <p:nvPr/>
        </p:nvSpPr>
        <p:spPr>
          <a:xfrm>
            <a:off x="818388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43"/>
          <p:cNvSpPr/>
          <p:nvPr/>
        </p:nvSpPr>
        <p:spPr>
          <a:xfrm>
            <a:off x="8458200" y="1737360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9523" y="1808683"/>
            <a:ext cx="405994" cy="405994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845820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60" name="Text 45"/>
          <p:cNvSpPr/>
          <p:nvPr/>
        </p:nvSpPr>
        <p:spPr>
          <a:xfrm>
            <a:off x="845820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computes polarity and subjectivity scores for each cleaned tweet, capturing emotional tone beyond raw word frequency.</a:t>
            </a:r>
            <a:endParaRPr lang="en-US" sz="1100" dirty="0"/>
          </a:p>
        </p:txBody>
      </p:sp>
      <p:sp>
        <p:nvSpPr>
          <p:cNvPr id="61" name="Shape 46"/>
          <p:cNvSpPr/>
          <p:nvPr/>
        </p:nvSpPr>
        <p:spPr>
          <a:xfrm>
            <a:off x="8458200" y="3794760"/>
            <a:ext cx="301752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47"/>
          <p:cNvSpPr/>
          <p:nvPr/>
        </p:nvSpPr>
        <p:spPr>
          <a:xfrm>
            <a:off x="84582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matrix</a:t>
            </a:r>
            <a:endParaRPr lang="en-US" sz="1150" dirty="0"/>
          </a:p>
        </p:txBody>
      </p:sp>
      <p:sp>
        <p:nvSpPr>
          <p:cNvPr id="63" name="Text 48"/>
          <p:cNvSpPr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(TF-IDF)  +  10 (meta)</a:t>
            </a:r>
            <a:endParaRPr lang="en-US" sz="1100" dirty="0"/>
          </a:p>
        </p:txBody>
      </p:sp>
      <p:sp>
        <p:nvSpPr>
          <p:cNvPr id="64" name="Text 49"/>
          <p:cNvSpPr/>
          <p:nvPr/>
        </p:nvSpPr>
        <p:spPr>
          <a:xfrm>
            <a:off x="8458200" y="4572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10,010</a:t>
            </a:r>
            <a:endParaRPr lang="en-US" sz="2800" dirty="0"/>
          </a:p>
        </p:txBody>
      </p:sp>
      <p:sp>
        <p:nvSpPr>
          <p:cNvPr id="65" name="Text 50"/>
          <p:cNvSpPr/>
          <p:nvPr/>
        </p:nvSpPr>
        <p:spPr>
          <a:xfrm>
            <a:off x="845820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per tweet</a:t>
            </a:r>
            <a:endParaRPr lang="en-US" sz="1050" dirty="0"/>
          </a:p>
        </p:txBody>
      </p:sp>
      <p:sp>
        <p:nvSpPr>
          <p:cNvPr id="66" name="Text 5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7" name="Text 5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· DATA PREPARATION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80/20 stratified split preserves the original class balance in both sets, so evaluation reflects real-world class proportions.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6,090 tweets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2240280"/>
            <a:ext cx="4432438" cy="502920"/>
          </a:xfrm>
          <a:prstGeom prst="rect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75638" y="2240280"/>
            <a:ext cx="3339962" cy="502920"/>
          </a:xfrm>
          <a:prstGeom prst="rect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0" y="2240280"/>
            <a:ext cx="4432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5638" y="2240280"/>
            <a:ext cx="33399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1,523 tweets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0" y="3383280"/>
            <a:ext cx="4434810" cy="502920"/>
          </a:xfrm>
          <a:prstGeom prst="rect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178010" y="3383280"/>
            <a:ext cx="3337590" cy="502920"/>
          </a:xfrm>
          <a:prstGeom prst="rect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0" y="3383280"/>
            <a:ext cx="4434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869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78010" y="3383280"/>
            <a:ext cx="3337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0" y="4480560"/>
            <a:ext cx="228600" cy="228600"/>
          </a:xfrm>
          <a:prstGeom prst="rect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035808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Non-Disaster (0)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937760" y="4480560"/>
            <a:ext cx="228600" cy="228600"/>
          </a:xfrm>
          <a:prstGeom prst="rect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30368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(1)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470916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" y="4937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train_test_split, test_size=0.2, stratify=y, random_state=42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splits keep the ~57/43 non-disaster/disaster ratio — no class-balance drift between train and test.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 · MODELLING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 Comparison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candidate models were evaluated with 5-fold stratified cross-validation, scored on F1 to balance precision and recall on this imbalanced task.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2011680"/>
          <a:ext cx="7040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818120" y="2011680"/>
            <a:ext cx="3886200" cy="3840480"/>
          </a:xfrm>
          <a:prstGeom prst="roundRect">
            <a:avLst>
              <a:gd name="adj" fmla="val 2857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092440" y="2286000"/>
            <a:ext cx="548640" cy="548640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763" y="235732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244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924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 = 0.7337, ahead of XGBoost (0.7244) and Naive Bayes (0.7167).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092440" y="4206240"/>
            <a:ext cx="3291840" cy="0"/>
          </a:xfrm>
          <a:prstGeom prst="line">
            <a:avLst/>
          </a:prstGeom>
          <a:noFill/>
          <a:ln w="12700">
            <a:solidFill>
              <a:srgbClr val="3A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8092440" y="4389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models fit high-dimensional sparse TF-IDF data well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underperforms on sparse text vectors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 applied for models needing non-negative input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 · MODELLING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two candidates were tuned with RandomizedSearchCV over 5-fold CV, searching for the parameter set that maximizes F1.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0574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2403043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7724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∈ {0.01–20}, solver ∈ {lbfgs, saga}, max_iter ∈ {500,1000,2000}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39776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BUDGET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772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candidates × 5 folds = 100 fits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7240" y="45720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C=1, solver=lbfgs, max_iter=1000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240" y="5257800"/>
            <a:ext cx="493776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77240" y="5394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F1:  </a:t>
            </a:r>
            <a:r>
              <a:rPr lang="en-US" sz="1600" b="1" dirty="0">
                <a:solidFill>
                  <a:srgbClr val="E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0.7337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20574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92240" y="2331720"/>
            <a:ext cx="548640" cy="548640"/>
          </a:xfrm>
          <a:prstGeom prst="ellipse">
            <a:avLst/>
          </a:prstGeom>
          <a:solidFill>
            <a:srgbClr val="1F33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563" y="2403043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9224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9224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max_depth, learning_rate, subsample, colsample_bytree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92240" y="39776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BUDGET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922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candidates × 5 folds = 75 fits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492240" y="45720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9224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n_estimators=300, depth=5, lr=0.2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492240" y="5257800"/>
            <a:ext cx="493776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492240" y="5394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F1:  </a:t>
            </a:r>
            <a:r>
              <a:rPr lang="en-US" sz="1600" b="1" dirty="0">
                <a:solidFill>
                  <a:srgbClr val="1F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0.7269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 · MODELLING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Selection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192024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(tuned)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5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361188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3957523"/>
            <a:ext cx="405994" cy="4059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Logistic Regression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77240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the highest F1-score and ROC-AUC on the held-out test set, confirming the cross-validation ranking held on unseen data.</a:t>
            </a:r>
            <a:endParaRPr lang="en-US" sz="1150" dirty="0"/>
          </a:p>
        </p:txBody>
      </p:sp>
      <p:sp>
        <p:nvSpPr>
          <p:cNvPr id="6" name="Shape 7"/>
          <p:cNvSpPr/>
          <p:nvPr/>
        </p:nvSpPr>
        <p:spPr>
          <a:xfrm>
            <a:off x="6172200" y="3611880"/>
            <a:ext cx="1783080" cy="214884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172200" y="4160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79.65%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172200" y="4754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119872" y="3611880"/>
            <a:ext cx="1783080" cy="214884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119872" y="4160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0.7488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119872" y="4754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10067544" y="3611880"/>
            <a:ext cx="1783080" cy="214884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0067544" y="4160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0.8614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0067544" y="4754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 · EVALUATION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Classification Report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 = 1,523)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6304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46304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Non-Disaster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2900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63040" y="2194560"/>
            <a:ext cx="1920240" cy="960120"/>
          </a:xfrm>
          <a:prstGeom prst="rect">
            <a:avLst/>
          </a:prstGeom>
          <a:solidFill>
            <a:srgbClr val="1F9E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63040" y="22677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30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29000" y="2194560"/>
            <a:ext cx="1920240" cy="960120"/>
          </a:xfrm>
          <a:prstGeom prst="rect">
            <a:avLst/>
          </a:prstGeom>
          <a:solidFill>
            <a:srgbClr val="F0A93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29000" y="22677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2900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463040" y="3200400"/>
            <a:ext cx="1920240" cy="960120"/>
          </a:xfrm>
          <a:prstGeom prst="rect">
            <a:avLst/>
          </a:prstGeom>
          <a:solidFill>
            <a:srgbClr val="F0A93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46304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29000" y="3200400"/>
            <a:ext cx="1920240" cy="960120"/>
          </a:xfrm>
          <a:prstGeom prst="rect">
            <a:avLst/>
          </a:prstGeom>
          <a:solidFill>
            <a:srgbClr val="E8503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29000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4290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60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Disaster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2860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Non-D.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92240" y="1417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212080" cy="1737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Non-Disaster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492240" y="370332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76656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Trade-off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766560" y="420624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real non-disaster tweets are correctly ignored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real disasters are caught (recall) — 192 are missed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80% keeps false alarms manageable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precision/recall suggests no severe bias to either class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622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 · EVALUATION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ROC, Precision-Recall &amp; Learning Curves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90012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7724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5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0.8614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772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77240" y="3886200"/>
            <a:ext cx="306324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724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separation between classes across all thresholds — far above the 0.50 random baseline.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155448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323" y="190012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0.8588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57200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0" y="3886200"/>
            <a:ext cx="306324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57200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decision threshold found at 0.48, close to the default 0.50 cutoff.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92440" y="155448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083" y="1900123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6676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36676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Slight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836676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Signal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366760" y="3886200"/>
            <a:ext cx="306324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36676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F1 stays above validation F1 as data grows — mild overfitting; more regularization could help.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 · EVALUATION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— What the Model Gets Wrong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180274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False Positives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Non-disaster tweets flagged as disasters — usually metaphorical or figurative use of disaster words.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60120" y="3044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“Sinking Fast — Now or Never” (song title)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7240" y="3685032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60120" y="3758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the movie Titanic, Jack and Rose...”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7240" y="4398264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60120" y="4471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“...did Lloyds of London insure your bet...#sinking”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" y="51572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words like “sinking” and “fire” carry disaster-adjacent TF-IDF weight regardless of context.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46304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180274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False Negatives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4652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disaster tweets missed — often subtle, indirect, or lacking classic disaster keywords.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46520" y="2926080"/>
            <a:ext cx="4937760" cy="0"/>
          </a:xfrm>
          <a:prstGeom prst="line">
            <a:avLst/>
          </a:prstGeom>
          <a:noFill/>
          <a:ln w="12700">
            <a:solidFill>
              <a:srgbClr val="3A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446520" y="3108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highest-stakes errors for a real deployment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value in richer context (embeddings, transformers)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(0.48 vs 0.50) can trade recall for precision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recommended for borderline cases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4652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disaster monitoring, minimizing false negatives usually matters more than false positives — a missed alert is costlier than a false alarm.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Architecture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897380" y="1783080"/>
            <a:ext cx="640080" cy="64008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590" y="186629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artefacts/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best_model.pkl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tfidf_vectorizer.pkl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3192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389120" y="155448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1F335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83580" y="1783080"/>
            <a:ext cx="640080" cy="640080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0" y="186629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predictor.py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1772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text, extracts TF-IDF + 10 meta-features, runs prediction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81812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8275320" y="155448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1F9E8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669780" y="1783080"/>
            <a:ext cx="640080" cy="640080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990" y="186629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5820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50392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Blocks UI — textbox input, prediction + confidence output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029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Preview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4754880"/>
            <a:ext cx="74066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31520" y="493776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68680" y="50749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“Wildfire near Los Angeles forces thousands to evacuate.”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120640" y="493776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5120640" y="4937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583680" y="493776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583680" y="4937760"/>
            <a:ext cx="1143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183880" y="44348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6223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845820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8458200" y="4937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NLTK · TextBlob · SciPy · XGBoost · Gradio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 · NLP Project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F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94360" cy="594360"/>
          </a:xfrm>
          <a:prstGeom prst="ellipse">
            <a:avLst/>
          </a:prstGeom>
          <a:solidFill>
            <a:srgbClr val="F0A9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7" y="534467"/>
            <a:ext cx="439826" cy="439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3444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Achievements &amp; Next Steps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234440" y="1508760"/>
            <a:ext cx="457200" cy="45720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" y="156819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1481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compared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92024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Naive Bayes, Linear SVM, Random Forest, XGBoost — 5-fold stratified CV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234440" y="2377440"/>
            <a:ext cx="457200" cy="45720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243687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2350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920240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search on the top candidates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234440" y="3246120"/>
            <a:ext cx="457200" cy="45720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" y="330555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920240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feature set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92024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(10k n-grams) + 10 handcrafted + sentiment features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234440" y="4114800"/>
            <a:ext cx="457200" cy="45720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3876" y="4174236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20240" y="4087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suite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92024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ROC/PR curves, learning curves, error analysis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1234440" y="4983480"/>
            <a:ext cx="457200" cy="457200"/>
          </a:xfrm>
          <a:prstGeom prst="ellipse">
            <a:avLst/>
          </a:prstGeom>
          <a:solidFill>
            <a:srgbClr val="1F9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3876" y="5042916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920240" y="4956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Gradio web app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92024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with a modular predictor.py + app.py design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766560" y="1508760"/>
            <a:ext cx="4937760" cy="4846320"/>
          </a:xfrm>
          <a:prstGeom prst="roundRect">
            <a:avLst>
              <a:gd name="adj" fmla="val 2264"/>
            </a:avLst>
          </a:prstGeom>
          <a:solidFill>
            <a:srgbClr val="1F335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704088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7040880" y="2203704"/>
            <a:ext cx="109728" cy="1097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7269480" y="20756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transformer-based embeddings (BERT/DistilBERT) for deeper context understanding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7040880" y="3044952"/>
            <a:ext cx="109728" cy="1097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269480" y="291693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pre-trained word embeddings (Word2Vec/GloVe) alongside TF-IDF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7040880" y="3886200"/>
            <a:ext cx="109728" cy="1097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7269480" y="375818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slight overfitting with stronger regularization or ensembling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7040880" y="4727448"/>
            <a:ext cx="109728" cy="1097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7269480" y="459943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cloud platform (AWS/Heroku) for continuous, scalable monitoring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7040880" y="5568696"/>
            <a:ext cx="109728" cy="109728"/>
          </a:xfrm>
          <a:prstGeom prst="ellipse">
            <a:avLst/>
          </a:prstGeom>
          <a:solidFill>
            <a:srgbClr val="E85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7269480" y="5440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active learning to reduce costly false negatives over time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" y="6080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DB70-E84E-FDA8-78DC-BC653FB6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A156DE-67B4-FEB3-E359-B39AF472DA11}"/>
              </a:ext>
            </a:extLst>
          </p:cNvPr>
          <p:cNvSpPr/>
          <p:nvPr/>
        </p:nvSpPr>
        <p:spPr>
          <a:xfrm>
            <a:off x="410547" y="826692"/>
            <a:ext cx="9728407" cy="4401249"/>
          </a:xfrm>
          <a:prstGeom prst="ellipse">
            <a:avLst/>
          </a:prstGeom>
          <a:solidFill>
            <a:srgbClr val="1F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D7F997-211B-DD38-E6E9-38D3E3F590B8}"/>
              </a:ext>
            </a:extLst>
          </p:cNvPr>
          <p:cNvSpPr/>
          <p:nvPr/>
        </p:nvSpPr>
        <p:spPr>
          <a:xfrm>
            <a:off x="-121298" y="2207625"/>
            <a:ext cx="11187403" cy="4650375"/>
          </a:xfrm>
          <a:prstGeom prst="ellipse">
            <a:avLst/>
          </a:prstGeom>
          <a:solidFill>
            <a:srgbClr val="00B05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1C5756E-2416-EB12-25CA-743F02CFA710}"/>
              </a:ext>
            </a:extLst>
          </p:cNvPr>
          <p:cNvSpPr/>
          <p:nvPr/>
        </p:nvSpPr>
        <p:spPr>
          <a:xfrm>
            <a:off x="4209972" y="2311193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4000" b="1" kern="0" spc="2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Thankyou</a:t>
            </a:r>
            <a:r>
              <a:rPr lang="en-US" sz="1300" b="1" kern="0" spc="25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6099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1675</Words>
  <Application>Microsoft Office PowerPoint</Application>
  <PresentationFormat>Widescreen</PresentationFormat>
  <Paragraphs>386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Tweet Classification — NLP Project</dc:title>
  <dc:subject>PptxGenJS Presentation</dc:subject>
  <dc:creator>Khairun Nisa</dc:creator>
  <cp:lastModifiedBy>khairun nisa</cp:lastModifiedBy>
  <cp:revision>5</cp:revision>
  <dcterms:created xsi:type="dcterms:W3CDTF">2026-07-07T06:29:58Z</dcterms:created>
  <dcterms:modified xsi:type="dcterms:W3CDTF">2026-07-07T06:57:44Z</dcterms:modified>
</cp:coreProperties>
</file>